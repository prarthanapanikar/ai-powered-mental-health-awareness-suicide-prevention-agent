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9317929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217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738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525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657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879504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smtClean="0"/>
                    </a:p>
                    <a:p>
                      <a:pPr marL="0" marR="0" lvl="0" indent="0" algn="l" rtl="0">
                        <a:spcBef>
                          <a:spcPts val="0"/>
                        </a:spcBef>
                        <a:spcAft>
                          <a:spcPts val="0"/>
                        </a:spcAft>
                        <a:buNone/>
                      </a:pPr>
                      <a:r>
                        <a:rPr lang="en-IN" sz="2000" dirty="0" smtClean="0"/>
                        <a:t>prarthanapanikar@gmail.com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smtClean="0"/>
                    </a:p>
                    <a:p>
                      <a:pPr marL="0" marR="0" lvl="0" indent="0" algn="l" rtl="0">
                        <a:spcBef>
                          <a:spcPts val="0"/>
                        </a:spcBef>
                        <a:spcAft>
                          <a:spcPts val="0"/>
                        </a:spcAft>
                        <a:buNone/>
                      </a:pPr>
                      <a:r>
                        <a:rPr lang="en-IN" sz="2000" dirty="0" smtClean="0"/>
                        <a:t>9529614558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dirty="0"/>
              <a:t>AI-Powered Mental Health Awareness and Suicide Prevention Agent</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sp>
        <p:nvSpPr>
          <p:cNvPr id="2" name="TextBox 1"/>
          <p:cNvSpPr txBox="1"/>
          <p:nvPr/>
        </p:nvSpPr>
        <p:spPr>
          <a:xfrm>
            <a:off x="1443569" y="3608937"/>
            <a:ext cx="1856510" cy="1015663"/>
          </a:xfrm>
          <a:prstGeom prst="rect">
            <a:avLst/>
          </a:prstGeom>
          <a:noFill/>
        </p:spPr>
        <p:txBody>
          <a:bodyPr wrap="square" rtlCol="0">
            <a:spAutoFit/>
          </a:bodyPr>
          <a:lstStyle/>
          <a:p>
            <a:r>
              <a:rPr lang="en-IN" sz="2000" dirty="0" err="1" smtClean="0"/>
              <a:t>Panikar</a:t>
            </a:r>
            <a:r>
              <a:rPr lang="en-IN" sz="2000" dirty="0" smtClean="0"/>
              <a:t> </a:t>
            </a:r>
            <a:r>
              <a:rPr lang="en-IN" sz="2000" dirty="0" err="1" smtClean="0"/>
              <a:t>Prarthanna</a:t>
            </a:r>
            <a:r>
              <a:rPr lang="en-IN" sz="2000" dirty="0" smtClean="0"/>
              <a:t> </a:t>
            </a:r>
            <a:r>
              <a:rPr lang="en-IN" sz="2000" dirty="0" err="1" smtClean="0"/>
              <a:t>Sumesh</a:t>
            </a:r>
            <a:r>
              <a:rPr lang="en-IN" dirty="0" smtClean="0"/>
              <a:t>.</a:t>
            </a:r>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024" y="3608937"/>
            <a:ext cx="1160007" cy="113938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736262"/>
            <a:ext cx="10607040" cy="5847755"/>
          </a:xfrm>
          <a:prstGeom prst="rect">
            <a:avLst/>
          </a:prstGeom>
          <a:noFill/>
        </p:spPr>
        <p:txBody>
          <a:bodyPr wrap="square" rtlCol="0">
            <a:spAutoFit/>
          </a:bodyPr>
          <a:lstStyle/>
          <a:p>
            <a:pPr fontAlgn="base"/>
            <a:r>
              <a:rPr lang="en-US" sz="1700" b="1" dirty="0"/>
              <a:t>Problem Statement </a:t>
            </a:r>
            <a:r>
              <a:rPr lang="en-US" sz="1700" b="1" dirty="0" smtClean="0"/>
              <a:t>:</a:t>
            </a:r>
            <a:r>
              <a:rPr lang="en-US" sz="1700" dirty="0" smtClean="0"/>
              <a:t> </a:t>
            </a:r>
            <a:r>
              <a:rPr lang="en-US" sz="1700" dirty="0"/>
              <a:t>AI-Powered Mental Health Awareness and Suicide Prevention Agent </a:t>
            </a:r>
          </a:p>
          <a:p>
            <a:pPr fontAlgn="base"/>
            <a:endParaRPr lang="en-US" sz="1700" b="1" dirty="0"/>
          </a:p>
          <a:p>
            <a:pPr fontAlgn="base"/>
            <a:r>
              <a:rPr lang="en-US" sz="1700" b="1" dirty="0"/>
              <a:t>The Challenge</a:t>
            </a:r>
            <a:r>
              <a:rPr lang="en-US" sz="1700" dirty="0"/>
              <a:t> </a:t>
            </a:r>
          </a:p>
          <a:p>
            <a:pPr fontAlgn="base"/>
            <a:r>
              <a:rPr lang="en-US" sz="1700" dirty="0"/>
              <a:t>Mental health disorders such as stress, anxiety, depression, and emotional burnout are increasing worldwide. Many people hesitate to seek professional help due to stigma, lack of awareness, limited access to mental health resources, or financial constraints. Individuals experiencing emotional distress often do not receive timely guidance, which can worsen their condition and, in severe cases, lead to suicidal thoughts</a:t>
            </a:r>
            <a:r>
              <a:rPr lang="en-US" sz="1700" dirty="0" smtClean="0"/>
              <a:t>.</a:t>
            </a:r>
          </a:p>
          <a:p>
            <a:pPr fontAlgn="base"/>
            <a:endParaRPr lang="en-US" sz="1700" dirty="0"/>
          </a:p>
          <a:p>
            <a:pPr fontAlgn="base"/>
            <a:r>
              <a:rPr lang="en-US" sz="1700" b="1" dirty="0"/>
              <a:t>The Objective</a:t>
            </a:r>
            <a:r>
              <a:rPr lang="en-US" sz="1700" dirty="0"/>
              <a:t> </a:t>
            </a:r>
          </a:p>
          <a:p>
            <a:pPr fontAlgn="base"/>
            <a:r>
              <a:rPr lang="en-US" sz="1700" dirty="0"/>
              <a:t>Build an </a:t>
            </a:r>
            <a:r>
              <a:rPr lang="en-US" sz="1700" dirty="0" err="1"/>
              <a:t>Agentic</a:t>
            </a:r>
            <a:r>
              <a:rPr lang="en-US" sz="1700" dirty="0"/>
              <a:t> AI-powered Mental Health Awareness &amp; Suicide Prevention Agent that is empathetic, proactive, and safe</a:t>
            </a:r>
            <a:r>
              <a:rPr lang="en-US" sz="1700" dirty="0" smtClean="0"/>
              <a:t>.</a:t>
            </a:r>
          </a:p>
          <a:p>
            <a:pPr fontAlgn="base"/>
            <a:r>
              <a:rPr lang="en-US" sz="1700" dirty="0" smtClean="0"/>
              <a:t> </a:t>
            </a:r>
            <a:r>
              <a:rPr lang="en-US" sz="1700" dirty="0"/>
              <a:t>The solution should: </a:t>
            </a:r>
            <a:endParaRPr lang="en-US" sz="1700" dirty="0" smtClean="0"/>
          </a:p>
          <a:p>
            <a:pPr marL="342900" indent="-342900" fontAlgn="base">
              <a:buAutoNum type="arabicPeriod"/>
            </a:pPr>
            <a:r>
              <a:rPr lang="en-US" sz="1700" dirty="0" smtClean="0"/>
              <a:t>Promote </a:t>
            </a:r>
            <a:r>
              <a:rPr lang="en-US" sz="1700" dirty="0"/>
              <a:t>Awareness &amp; Education – Share accessible resources on mindfulness, coping strategies, and self-care. </a:t>
            </a:r>
            <a:endParaRPr lang="en-US" sz="1700" dirty="0" smtClean="0"/>
          </a:p>
          <a:p>
            <a:pPr marL="342900" indent="-342900" fontAlgn="base">
              <a:buAutoNum type="arabicPeriod"/>
            </a:pPr>
            <a:r>
              <a:rPr lang="en-US" sz="1700" dirty="0" smtClean="0"/>
              <a:t>Enable </a:t>
            </a:r>
            <a:r>
              <a:rPr lang="en-US" sz="1700" dirty="0"/>
              <a:t>Early Detection (RAG) – Use Retrieval-Augmented Generation to identify distress signals in conversations, journaling inputs, or safe online data. </a:t>
            </a:r>
            <a:endParaRPr lang="en-US" sz="1700" dirty="0" smtClean="0"/>
          </a:p>
          <a:p>
            <a:pPr marL="342900" indent="-342900" fontAlgn="base">
              <a:buAutoNum type="arabicPeriod"/>
            </a:pPr>
            <a:r>
              <a:rPr lang="en-US" sz="1700" dirty="0" smtClean="0"/>
              <a:t>Provide </a:t>
            </a:r>
            <a:r>
              <a:rPr lang="en-US" sz="1700" dirty="0"/>
              <a:t>Empathetic Support – Build a conversational agent that listens actively and responds with empathy (with clear disclaimers: not a substitute for professional medical advice). </a:t>
            </a:r>
            <a:endParaRPr lang="en-US" sz="1700" dirty="0" smtClean="0"/>
          </a:p>
          <a:p>
            <a:pPr marL="342900" indent="-342900" fontAlgn="base">
              <a:buAutoNum type="arabicPeriod"/>
            </a:pPr>
            <a:r>
              <a:rPr lang="en-US" sz="1700" dirty="0" smtClean="0"/>
              <a:t> </a:t>
            </a:r>
            <a:r>
              <a:rPr lang="en-US" sz="1700" dirty="0"/>
              <a:t>Predict &amp; Prevent Risks – Forecast stress peaks, suggest preventive strategies, and issue alerts when high-risk signals are detected (with consent). </a:t>
            </a:r>
            <a:r>
              <a:rPr lang="en-US" sz="1700" dirty="0" smtClean="0"/>
              <a:t>5</a:t>
            </a:r>
          </a:p>
          <a:p>
            <a:pPr marL="342900" indent="-342900" fontAlgn="base">
              <a:buAutoNum type="arabicPeriod"/>
            </a:pPr>
            <a:r>
              <a:rPr lang="en-US" sz="1700" dirty="0" smtClean="0"/>
              <a:t> </a:t>
            </a:r>
            <a:r>
              <a:rPr lang="en-US" sz="1700" dirty="0"/>
              <a:t>Connect to Human Support – Link users to helplines, counselors, or community support for timely intervention.</a:t>
            </a:r>
            <a:endParaRPr lang="en-IN" sz="1700"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260742"/>
            <a:ext cx="7214616" cy="461665"/>
          </a:xfrm>
          <a:prstGeom prst="rect">
            <a:avLst/>
          </a:prstGeom>
          <a:noFill/>
        </p:spPr>
        <p:txBody>
          <a:bodyPr wrap="square" rtlCol="0">
            <a:spAutoFit/>
          </a:bodyPr>
          <a:lstStyle/>
          <a:p>
            <a:r>
              <a:rPr lang="en-US" sz="2400" b="1" u="sng" dirty="0"/>
              <a:t>Problem Statement </a:t>
            </a:r>
            <a:r>
              <a:rPr lang="en-US" sz="2400" b="1" dirty="0"/>
              <a:t>-</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246887"/>
            <a:ext cx="10607040" cy="7201972"/>
          </a:xfrm>
          <a:prstGeom prst="rect">
            <a:avLst/>
          </a:prstGeom>
          <a:noFill/>
        </p:spPr>
        <p:txBody>
          <a:bodyPr wrap="square" rtlCol="0">
            <a:spAutoFit/>
          </a:bodyPr>
          <a:lstStyle/>
          <a:p>
            <a:pPr fontAlgn="base"/>
            <a:endParaRPr lang="en-US" b="1" dirty="0"/>
          </a:p>
          <a:p>
            <a:r>
              <a:rPr lang="en-US" sz="1500" dirty="0"/>
              <a:t>The proposed solution is an intelligent </a:t>
            </a:r>
            <a:r>
              <a:rPr lang="en-US" sz="1500" b="1" dirty="0"/>
              <a:t>AI-Powered Mental Health Awareness and Suicide Prevention Agent</a:t>
            </a:r>
            <a:r>
              <a:rPr lang="en-US" sz="1500" dirty="0"/>
              <a:t> developed using </a:t>
            </a:r>
            <a:r>
              <a:rPr lang="en-US" sz="1500" b="1" dirty="0"/>
              <a:t>IBM </a:t>
            </a:r>
            <a:r>
              <a:rPr lang="en-US" sz="1500" b="1" dirty="0" err="1"/>
              <a:t>watsonx</a:t>
            </a:r>
            <a:r>
              <a:rPr lang="en-US" sz="1500" b="1" dirty="0"/>
              <a:t> Orchestrate</a:t>
            </a:r>
            <a:r>
              <a:rPr lang="en-US" sz="1500" dirty="0"/>
              <a:t>, </a:t>
            </a:r>
            <a:r>
              <a:rPr lang="en-US" sz="1500" b="1" dirty="0"/>
              <a:t>IBM Granite Models</a:t>
            </a:r>
            <a:r>
              <a:rPr lang="en-US" sz="1500" dirty="0"/>
              <a:t>, and </a:t>
            </a:r>
            <a:r>
              <a:rPr lang="en-US" sz="1500" b="1" dirty="0"/>
              <a:t>IBM Cloud</a:t>
            </a:r>
            <a:r>
              <a:rPr lang="en-US" sz="1500" dirty="0"/>
              <a:t>.</a:t>
            </a:r>
          </a:p>
          <a:p>
            <a:r>
              <a:rPr lang="en-US" sz="1500" dirty="0"/>
              <a:t>The agent acts as a compassionate virtual mental health assistant that provides emotional support, mental health education, stress management techniques, and wellness recommendations.</a:t>
            </a:r>
          </a:p>
          <a:p>
            <a:r>
              <a:rPr lang="en-US" sz="1500" dirty="0"/>
              <a:t>The system analyzes user conversations to understand emotions and offers personalized guidance while maintaining privacy and following responsible AI principles.</a:t>
            </a:r>
          </a:p>
          <a:p>
            <a:r>
              <a:rPr lang="en-US" sz="1500" dirty="0"/>
              <a:t>The solution consists of four intelligent agents:</a:t>
            </a:r>
          </a:p>
          <a:p>
            <a:r>
              <a:rPr lang="en-US" sz="1500" b="1" dirty="0"/>
              <a:t>1. Emotional Support Agent</a:t>
            </a:r>
          </a:p>
          <a:p>
            <a:r>
              <a:rPr lang="en-US" sz="1500" dirty="0"/>
              <a:t>Provides empathetic conversations </a:t>
            </a:r>
          </a:p>
          <a:p>
            <a:r>
              <a:rPr lang="en-US" sz="1500" dirty="0"/>
              <a:t>Reduces feelings of loneliness </a:t>
            </a:r>
          </a:p>
          <a:p>
            <a:r>
              <a:rPr lang="en-US" sz="1500" dirty="0"/>
              <a:t>Encourages positive thinking </a:t>
            </a:r>
          </a:p>
          <a:p>
            <a:r>
              <a:rPr lang="en-US" sz="1500" b="1" dirty="0"/>
              <a:t>2. Mental Health Awareness Agent</a:t>
            </a:r>
          </a:p>
          <a:p>
            <a:r>
              <a:rPr lang="en-US" sz="1500" dirty="0"/>
              <a:t>Educates users about anxiety, depression, stress, panic attacks, and emotional wellness </a:t>
            </a:r>
          </a:p>
          <a:p>
            <a:r>
              <a:rPr lang="en-US" sz="1500" dirty="0"/>
              <a:t>Promotes mental health awareness </a:t>
            </a:r>
          </a:p>
          <a:p>
            <a:r>
              <a:rPr lang="en-US" sz="1500" b="1" dirty="0"/>
              <a:t>3. Wellness Recommendation Agent</a:t>
            </a:r>
          </a:p>
          <a:p>
            <a:r>
              <a:rPr lang="en-US" sz="1500" dirty="0"/>
              <a:t>Suggests meditation </a:t>
            </a:r>
          </a:p>
          <a:p>
            <a:r>
              <a:rPr lang="en-US" sz="1500" dirty="0"/>
              <a:t>Breathing exercises </a:t>
            </a:r>
          </a:p>
          <a:p>
            <a:r>
              <a:rPr lang="en-US" sz="1500" dirty="0"/>
              <a:t>Sleep improvement tips </a:t>
            </a:r>
          </a:p>
          <a:p>
            <a:r>
              <a:rPr lang="en-US" sz="1500" dirty="0" smtClean="0"/>
              <a:t>Healthy </a:t>
            </a:r>
            <a:r>
              <a:rPr lang="en-US" sz="1500" dirty="0"/>
              <a:t>daily habits </a:t>
            </a:r>
          </a:p>
          <a:p>
            <a:r>
              <a:rPr lang="en-US" sz="1500" b="1" dirty="0"/>
              <a:t>4. Crisis Support Agent</a:t>
            </a:r>
          </a:p>
          <a:p>
            <a:r>
              <a:rPr lang="en-US" sz="1500" dirty="0"/>
              <a:t>Detects high-risk emotional conversations </a:t>
            </a:r>
          </a:p>
          <a:p>
            <a:r>
              <a:rPr lang="en-US" sz="1500" dirty="0"/>
              <a:t>Encourages users to contact trusted people </a:t>
            </a:r>
          </a:p>
          <a:p>
            <a:r>
              <a:rPr lang="en-US" sz="1500" dirty="0"/>
              <a:t>Recommends seeking professional mental health support </a:t>
            </a:r>
          </a:p>
          <a:p>
            <a:r>
              <a:rPr lang="en-US" sz="1500" dirty="0"/>
              <a:t>Provides emergency guidance in crisis situations </a:t>
            </a:r>
          </a:p>
          <a:p>
            <a:r>
              <a:rPr lang="en-US" sz="1500" dirty="0"/>
              <a:t>IBM </a:t>
            </a:r>
            <a:r>
              <a:rPr lang="en-US" sz="1500" dirty="0" err="1"/>
              <a:t>watsonx</a:t>
            </a:r>
            <a:r>
              <a:rPr lang="en-US" sz="1500" dirty="0"/>
              <a:t> Orchestrate manages workflow automation while IBM Granite Models generate intelligent, empathetic, and context-aware responses.</a:t>
            </a:r>
          </a:p>
          <a:p>
            <a:r>
              <a:rPr lang="en-US" sz="1500" dirty="0"/>
              <a:t>Overall, the solution promotes mental wellness, emotional resilience, early intervention, and responsible AI.</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16055"/>
            <a:ext cx="7214616" cy="461665"/>
          </a:xfrm>
          <a:prstGeom prst="rect">
            <a:avLst/>
          </a:prstGeom>
          <a:noFill/>
        </p:spPr>
        <p:txBody>
          <a:bodyPr wrap="square" rtlCol="0">
            <a:spAutoFit/>
          </a:bodyPr>
          <a:lstStyle/>
          <a:p>
            <a:r>
              <a:rPr lang="en-US" sz="2400" b="1" u="sng" dirty="0"/>
              <a:t>Proposed Solution -</a:t>
            </a:r>
            <a:endParaRPr lang="en-IN" sz="2400" b="1" u="sng"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530678"/>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pic>
        <p:nvPicPr>
          <p:cNvPr id="3" name="Picture 2"/>
          <p:cNvPicPr>
            <a:picLocks noChangeAspect="1"/>
          </p:cNvPicPr>
          <p:nvPr/>
        </p:nvPicPr>
        <p:blipFill>
          <a:blip r:embed="rId3"/>
          <a:stretch>
            <a:fillRect/>
          </a:stretch>
        </p:blipFill>
        <p:spPr>
          <a:xfrm>
            <a:off x="1490508" y="1403173"/>
            <a:ext cx="10701492" cy="5399123"/>
          </a:xfrm>
          <a:prstGeom prst="rect">
            <a:avLst/>
          </a:prstGeom>
        </p:spPr>
      </p:pic>
      <p:sp>
        <p:nvSpPr>
          <p:cNvPr id="10" name="Arrow: Right 9">
            <a:extLst>
              <a:ext uri="{FF2B5EF4-FFF2-40B4-BE49-F238E27FC236}">
                <a16:creationId xmlns="" xmlns:a16="http://schemas.microsoft.com/office/drawing/2014/main" id="{A6C81E80-ED7B-4240-A8EE-0221D9ACD900}"/>
              </a:ext>
            </a:extLst>
          </p:cNvPr>
          <p:cNvSpPr/>
          <p:nvPr/>
        </p:nvSpPr>
        <p:spPr>
          <a:xfrm rot="8280234">
            <a:off x="6422783" y="1119265"/>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0" y="1039877"/>
            <a:ext cx="10058400" cy="529079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u="sng" dirty="0"/>
              <a:t>Role of </a:t>
            </a:r>
            <a:r>
              <a:rPr lang="en-US" sz="3200" b="1" u="sng" dirty="0" err="1"/>
              <a:t>Agentic</a:t>
            </a:r>
            <a:r>
              <a:rPr lang="en-US" sz="3200" b="1" u="sng" dirty="0"/>
              <a:t> AI in the solution </a:t>
            </a:r>
            <a:endParaRPr lang="en-IN" sz="3200" b="1" u="sng"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4462760"/>
          </a:xfrm>
          <a:prstGeom prst="rect">
            <a:avLst/>
          </a:prstGeom>
          <a:noFill/>
        </p:spPr>
        <p:txBody>
          <a:bodyPr wrap="square" rtlCol="0">
            <a:spAutoFit/>
          </a:bodyPr>
          <a:lstStyle/>
          <a:p>
            <a:r>
              <a:rPr lang="en-US" sz="2400" b="1" dirty="0"/>
              <a:t>Role of </a:t>
            </a:r>
            <a:r>
              <a:rPr lang="en-US" sz="2400" b="1" dirty="0" err="1"/>
              <a:t>Agentic</a:t>
            </a:r>
            <a:r>
              <a:rPr lang="en-US" sz="2400" b="1" dirty="0"/>
              <a:t> AI in Nutrition Agent</a:t>
            </a:r>
          </a:p>
          <a:p>
            <a:r>
              <a:rPr lang="en-US" sz="2000" dirty="0" err="1"/>
              <a:t>Agentic</a:t>
            </a:r>
            <a:r>
              <a:rPr lang="en-US" sz="2000" dirty="0"/>
              <a:t> AI enables the Mental Health Agent to function as an autonomous and intelligent assistant rather than a traditional </a:t>
            </a:r>
            <a:r>
              <a:rPr lang="en-US" sz="2000" dirty="0" err="1"/>
              <a:t>chatbot</a:t>
            </a:r>
            <a:r>
              <a:rPr lang="en-US" sz="2000" dirty="0"/>
              <a:t>.</a:t>
            </a:r>
          </a:p>
          <a:p>
            <a:r>
              <a:rPr lang="en-US" sz="2000" dirty="0"/>
              <a:t>Different AI agents collaborate to:</a:t>
            </a:r>
          </a:p>
          <a:p>
            <a:r>
              <a:rPr lang="en-US" sz="2000" dirty="0"/>
              <a:t>Understand user emotions. </a:t>
            </a:r>
          </a:p>
          <a:p>
            <a:r>
              <a:rPr lang="en-US" sz="2000" dirty="0"/>
              <a:t>Provide personalized emotional support. </a:t>
            </a:r>
          </a:p>
          <a:p>
            <a:r>
              <a:rPr lang="en-US" sz="2000" dirty="0"/>
              <a:t>Recommend stress management techniques. </a:t>
            </a:r>
          </a:p>
          <a:p>
            <a:r>
              <a:rPr lang="en-US" sz="2000" dirty="0"/>
              <a:t>Detect signs of emotional crisis. </a:t>
            </a:r>
          </a:p>
          <a:p>
            <a:r>
              <a:rPr lang="en-US" sz="2000" dirty="0"/>
              <a:t>Deliver responsible and empathetic responses. </a:t>
            </a:r>
          </a:p>
          <a:p>
            <a:r>
              <a:rPr lang="en-US" sz="2000" dirty="0"/>
              <a:t>Encourage professional help when needed. </a:t>
            </a:r>
          </a:p>
          <a:p>
            <a:r>
              <a:rPr lang="en-US" sz="2000" dirty="0"/>
              <a:t>Continuously adapt responses based on conversation context. </a:t>
            </a:r>
          </a:p>
          <a:p>
            <a:r>
              <a:rPr lang="en-US" sz="2000" dirty="0"/>
              <a:t>This multi-agent architecture ensures accurate, safe, and human-centered assistance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p:cNvPicPr>
            <a:picLocks noChangeAspect="1"/>
          </p:cNvPicPr>
          <p:nvPr/>
        </p:nvPicPr>
        <p:blipFill>
          <a:blip r:embed="rId3"/>
          <a:stretch>
            <a:fillRect/>
          </a:stretch>
        </p:blipFill>
        <p:spPr>
          <a:xfrm>
            <a:off x="88901" y="862890"/>
            <a:ext cx="11925300" cy="554766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421" y="957780"/>
            <a:ext cx="10888344" cy="504932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p:cNvPicPr>
            <a:picLocks noChangeAspect="1"/>
          </p:cNvPicPr>
          <p:nvPr/>
        </p:nvPicPr>
        <p:blipFill>
          <a:blip r:embed="rId3"/>
          <a:stretch>
            <a:fillRect/>
          </a:stretch>
        </p:blipFill>
        <p:spPr>
          <a:xfrm>
            <a:off x="216582" y="816977"/>
            <a:ext cx="11784917" cy="543919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u="sng" dirty="0"/>
              <a:t>Novelty and Uniqueness</a:t>
            </a:r>
            <a:endParaRPr lang="en-IN" sz="2800" b="1" u="sng"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3785652"/>
          </a:xfrm>
          <a:prstGeom prst="rect">
            <a:avLst/>
          </a:prstGeom>
          <a:noFill/>
        </p:spPr>
        <p:txBody>
          <a:bodyPr wrap="square" rtlCol="0">
            <a:spAutoFit/>
          </a:bodyPr>
          <a:lstStyle/>
          <a:p>
            <a:pPr marL="457200" indent="-457200">
              <a:buFont typeface="+mj-lt"/>
              <a:buAutoNum type="arabicPeriod"/>
            </a:pPr>
            <a:r>
              <a:rPr lang="en-IN" sz="2400" dirty="0" smtClean="0"/>
              <a:t>Multi-Agent </a:t>
            </a:r>
            <a:r>
              <a:rPr lang="en-IN" sz="2400" dirty="0"/>
              <a:t>AI Architecture </a:t>
            </a:r>
          </a:p>
          <a:p>
            <a:pPr marL="457200" indent="-457200">
              <a:buFont typeface="+mj-lt"/>
              <a:buAutoNum type="arabicPeriod"/>
            </a:pPr>
            <a:r>
              <a:rPr lang="en-IN" sz="2400" dirty="0"/>
              <a:t>Emotion-aware conversations </a:t>
            </a:r>
          </a:p>
          <a:p>
            <a:pPr marL="457200" indent="-457200">
              <a:buFont typeface="+mj-lt"/>
              <a:buAutoNum type="arabicPeriod"/>
            </a:pPr>
            <a:r>
              <a:rPr lang="en-IN" sz="2400" dirty="0"/>
              <a:t>Responsible AI implementation </a:t>
            </a:r>
          </a:p>
          <a:p>
            <a:pPr marL="457200" indent="-457200">
              <a:buFont typeface="+mj-lt"/>
              <a:buAutoNum type="arabicPeriod"/>
            </a:pPr>
            <a:r>
              <a:rPr lang="en-IN" sz="2400" dirty="0"/>
              <a:t>Personalized wellness recommendations </a:t>
            </a:r>
          </a:p>
          <a:p>
            <a:pPr marL="457200" indent="-457200">
              <a:buFont typeface="+mj-lt"/>
              <a:buAutoNum type="arabicPeriod"/>
            </a:pPr>
            <a:r>
              <a:rPr lang="en-IN" sz="2400" dirty="0"/>
              <a:t>Crisis-aware responses </a:t>
            </a:r>
          </a:p>
          <a:p>
            <a:pPr marL="457200" indent="-457200">
              <a:buFont typeface="+mj-lt"/>
              <a:buAutoNum type="arabicPeriod"/>
            </a:pPr>
            <a:r>
              <a:rPr lang="en-IN" sz="2400" dirty="0"/>
              <a:t>Mental health education </a:t>
            </a:r>
          </a:p>
          <a:p>
            <a:pPr marL="457200" indent="-457200">
              <a:buFont typeface="+mj-lt"/>
              <a:buAutoNum type="arabicPeriod"/>
            </a:pPr>
            <a:r>
              <a:rPr lang="en-IN" sz="2400" dirty="0"/>
              <a:t>IBM Granite-powered reasoning </a:t>
            </a:r>
          </a:p>
          <a:p>
            <a:pPr marL="457200" indent="-457200">
              <a:buFont typeface="+mj-lt"/>
              <a:buAutoNum type="arabicPeriod"/>
            </a:pPr>
            <a:r>
              <a:rPr lang="en-IN" sz="2400" dirty="0"/>
              <a:t>IBM </a:t>
            </a:r>
            <a:r>
              <a:rPr lang="en-IN" sz="2400" dirty="0" err="1"/>
              <a:t>watsonx</a:t>
            </a:r>
            <a:r>
              <a:rPr lang="en-IN" sz="2400" dirty="0"/>
              <a:t> Orchestrate workflow automation </a:t>
            </a:r>
          </a:p>
          <a:p>
            <a:pPr marL="457200" indent="-457200">
              <a:buFont typeface="+mj-lt"/>
              <a:buAutoNum type="arabicPeriod"/>
            </a:pPr>
            <a:r>
              <a:rPr lang="en-IN" sz="2400" dirty="0"/>
              <a:t>Scalable IBM Cloud deployment </a:t>
            </a:r>
          </a:p>
          <a:p>
            <a:pPr marL="457200" indent="-457200">
              <a:buFont typeface="+mj-lt"/>
              <a:buAutoNum type="arabicPeriod"/>
            </a:pPr>
            <a:r>
              <a:rPr lang="en-IN" sz="2400" dirty="0"/>
              <a:t>Privacy-focused and ethical AI</a:t>
            </a:r>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err="1">
                <a:sym typeface="Times New Roman"/>
              </a:rPr>
              <a:t>Git</a:t>
            </a:r>
            <a:r>
              <a:rPr lang="en-US" sz="2800" b="1" dirty="0">
                <a:sym typeface="Times New Roman"/>
              </a:rPr>
              <a:t> Hub Link</a:t>
            </a:r>
            <a:endParaRPr sz="2800"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b="1" dirty="0">
                <a:latin typeface="Times New Roman"/>
                <a:ea typeface="Times New Roman"/>
                <a:cs typeface="Times New Roman"/>
                <a:sym typeface="Times New Roman"/>
              </a:rPr>
              <a:t>Link</a:t>
            </a:r>
            <a:r>
              <a:rPr lang="en-IN" sz="1850" dirty="0">
                <a:latin typeface="Times New Roman"/>
                <a:ea typeface="Times New Roman"/>
                <a:cs typeface="Times New Roman"/>
                <a:sym typeface="Times New Roman"/>
              </a:rPr>
              <a:t> : https://github.com/PrarthanaPanikar/AI-Powered-Mental-Health-Awareness-Suicide-Prevention-Agent.git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400" b="1" dirty="0" smtClean="0"/>
              <a:t>Scopes:</a:t>
            </a:r>
            <a:endParaRPr lang="en-US" sz="2400" b="1" dirty="0"/>
          </a:p>
          <a:p>
            <a:pPr marL="457200" indent="-457200">
              <a:buFont typeface="+mj-lt"/>
              <a:buAutoNum type="arabicPeriod"/>
            </a:pPr>
            <a:r>
              <a:rPr lang="en-US" sz="2400" dirty="0"/>
              <a:t>Integration with wearable health devices. </a:t>
            </a:r>
          </a:p>
          <a:p>
            <a:pPr marL="457200" indent="-457200">
              <a:buFont typeface="+mj-lt"/>
              <a:buAutoNum type="arabicPeriod"/>
            </a:pPr>
            <a:r>
              <a:rPr lang="en-US" sz="2400" dirty="0"/>
              <a:t>Real-time emotion detection using voice analysis. </a:t>
            </a:r>
          </a:p>
          <a:p>
            <a:pPr marL="457200" indent="-457200">
              <a:buFont typeface="+mj-lt"/>
              <a:buAutoNum type="arabicPeriod"/>
            </a:pPr>
            <a:r>
              <a:rPr lang="en-US" sz="2400" dirty="0"/>
              <a:t>AI-powered multilingual mental health support. </a:t>
            </a:r>
          </a:p>
          <a:p>
            <a:pPr marL="457200" indent="-457200">
              <a:buFont typeface="+mj-lt"/>
              <a:buAutoNum type="arabicPeriod"/>
            </a:pPr>
            <a:r>
              <a:rPr lang="en-US" sz="2400" dirty="0"/>
              <a:t>Personalized therapy recommendations. </a:t>
            </a:r>
          </a:p>
          <a:p>
            <a:pPr marL="457200" indent="-457200">
              <a:buFont typeface="+mj-lt"/>
              <a:buAutoNum type="arabicPeriod"/>
            </a:pPr>
            <a:r>
              <a:rPr lang="en-US" sz="2400" dirty="0"/>
              <a:t>Integration with hospitals and mental health professionals. </a:t>
            </a:r>
          </a:p>
          <a:p>
            <a:pPr marL="457200" indent="-457200">
              <a:buFont typeface="+mj-lt"/>
              <a:buAutoNum type="arabicPeriod"/>
            </a:pPr>
            <a:r>
              <a:rPr lang="en-US" sz="2400" dirty="0"/>
              <a:t>Mobile application deployment. </a:t>
            </a:r>
          </a:p>
          <a:p>
            <a:pPr marL="457200" indent="-457200">
              <a:buFont typeface="+mj-lt"/>
              <a:buAutoNum type="arabicPeriod"/>
            </a:pPr>
            <a:r>
              <a:rPr lang="en-US" sz="2400" dirty="0"/>
              <a:t>Predictive mental health risk analysis. </a:t>
            </a:r>
          </a:p>
          <a:p>
            <a:pPr marL="457200" indent="-457200">
              <a:buFont typeface="+mj-lt"/>
              <a:buAutoNum type="arabicPeriod"/>
            </a:pPr>
            <a:r>
              <a:rPr lang="en-US" sz="2400" dirty="0"/>
              <a:t>Community support and peer-to-peer assistance. </a:t>
            </a:r>
          </a:p>
          <a:p>
            <a:pPr marL="457200" indent="-457200">
              <a:buFont typeface="+mj-lt"/>
              <a:buAutoNum type="arabicPeriod"/>
            </a:pPr>
            <a:r>
              <a:rPr lang="en-US" sz="2400" dirty="0"/>
              <a:t>AI-powered mood tracking dashboard. </a:t>
            </a:r>
          </a:p>
          <a:p>
            <a:pPr marL="457200" indent="-457200">
              <a:buFont typeface="+mj-lt"/>
              <a:buAutoNum type="arabicPeriod"/>
            </a:pPr>
            <a:r>
              <a:rPr lang="en-US" sz="2400" dirty="0"/>
              <a:t>Continuous learning using user feedback.</a:t>
            </a: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r>
              <a:rPr lang="en-US" sz="2400" b="1" dirty="0"/>
              <a:t>:</a:t>
            </a:r>
          </a:p>
          <a:p>
            <a:pPr algn="ctr"/>
            <a:endParaRPr lang="en-US" dirty="0"/>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958626"/>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smtClean="0"/>
              <a:t>Getting Started with Artificial Intelligence</a:t>
            </a:r>
            <a:endParaRPr lang="en-US" sz="2400" b="1" dirty="0"/>
          </a:p>
        </p:txBody>
      </p:sp>
      <p:pic>
        <p:nvPicPr>
          <p:cNvPr id="2" name="Picture 1"/>
          <p:cNvPicPr>
            <a:picLocks noChangeAspect="1"/>
          </p:cNvPicPr>
          <p:nvPr/>
        </p:nvPicPr>
        <p:blipFill>
          <a:blip r:embed="rId2"/>
          <a:stretch>
            <a:fillRect/>
          </a:stretch>
        </p:blipFill>
        <p:spPr>
          <a:xfrm>
            <a:off x="552048" y="1644168"/>
            <a:ext cx="6725589" cy="503942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356805" y="628173"/>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2" name="Picture 1"/>
          <p:cNvPicPr>
            <a:picLocks noChangeAspect="1"/>
          </p:cNvPicPr>
          <p:nvPr/>
        </p:nvPicPr>
        <p:blipFill>
          <a:blip r:embed="rId2"/>
          <a:stretch>
            <a:fillRect/>
          </a:stretch>
        </p:blipFill>
        <p:spPr>
          <a:xfrm>
            <a:off x="517657" y="1699971"/>
            <a:ext cx="11420211" cy="4382174"/>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705</Words>
  <Application>Microsoft Office PowerPoint</Application>
  <PresentationFormat>Widescreen</PresentationFormat>
  <Paragraphs>153</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9</cp:revision>
  <dcterms:created xsi:type="dcterms:W3CDTF">2025-07-08T05:06:56Z</dcterms:created>
  <dcterms:modified xsi:type="dcterms:W3CDTF">2026-07-22T08:20:15Z</dcterms:modified>
</cp:coreProperties>
</file>